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observations.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39572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no one had a camera.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 one thought they could time 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Timing for Occultations  —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assumed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researching occultation timing find this: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need a GPS timing device…”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 an analog camera and VTI…”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 a dedicated camera…”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Hardware cost: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– $1,200+ US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They close the tab.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3858768"/>
            <a:ext cx="8321040" cy="713232"/>
          </a:xfrm>
          <a:prstGeom prst="rect">
            <a:avLst/>
          </a:prstGeom>
          <a:solidFill>
            <a:srgbClr val="1A3A5A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38953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Step 0 they were never told about.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NTP actually delivers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observatory PC — domestic fibre</a:t>
            </a:r>
            <a:endParaRPr lang="en-US" sz="1700" dirty="0"/>
          </a:p>
        </p:txBody>
      </p:sp>
      <p:pic>
        <p:nvPicPr>
          <p:cNvPr id="5" name="Image 0" descr="./assets/ntp-server-monitor-status.png">    </p:cNvPr>
          <p:cNvPicPr>
            <a:picLocks noChangeAspect="1"/>
          </p:cNvPicPr>
          <p:nvPr/>
        </p:nvPicPr>
        <p:blipFill>
          <a:blip r:embed="rId1"/>
          <a:srcRect l="-123664" r="-123664" t="0" b="0"/>
          <a:stretch/>
        </p:blipFill>
        <p:spPr>
          <a:xfrm>
            <a:off x="384048" y="1115568"/>
            <a:ext cx="8321040" cy="2395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356616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−0.035 ms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is 35 </a:t>
            </a:r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milliseconds.  All active servers GPS-referenced at Stratum 1.  Reach 377 — every poll responded.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“±100 ms” fear = Windows default time service, </a:t>
            </a:r>
            <a:pPr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configured NTP.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5 ms good enough?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typical main-belt occultation, mag 12–13, 100 ms exposure: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15568"/>
          <a:ext cx="8321040" cy="1828800"/>
        </p:xfrm>
        <a:graphic>
          <a:graphicData uri="http://schemas.openxmlformats.org/drawingml/2006/table">
            <a:tbl>
              <a:tblPr/>
              <a:tblGrid>
                <a:gridCol w="603504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 clock (PIT estimate from logs)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line delay (measured)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frame delay (estimated)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(RSS)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3063240"/>
            <a:ext cx="8321040" cy="1737360"/>
          </a:xfrm>
          <a:prstGeom prst="rect">
            <a:avLst/>
          </a:prstGeom>
          <a:solidFill>
            <a:srgbClr val="0A2233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3063240"/>
            <a:ext cx="54864" cy="173736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127248"/>
            <a:ext cx="80467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“About 5 ms is accurate enough for most observing situations.
</a:t>
            </a:r>
            <a:pPr indent="0" marL="0"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traceability are more important than the raw accuracy number.”
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Dave Herald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IOTA worldwide coordinator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verify it — exactly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Clock Accuracy in Occultation Manager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2004 DG41 — 2026-03-02 10:58 UTC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−0.380 ms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±4.879 ms (95%)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age: 0 min before event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clock was −0.38 ms off at disappearance.”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goes directly into the observation report.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GPS-camera users never document this at all.</a:t>
            </a:r>
            <a:endParaRPr lang="en-US" sz="1350" dirty="0"/>
          </a:p>
        </p:txBody>
      </p:sp>
      <p:pic>
        <p:nvPicPr>
          <p:cNvPr id="6" name="Image 0" descr="./assets/ntp-accuracy-example1.png">    </p:cNvPr>
          <p:cNvPicPr>
            <a:picLocks noChangeAspect="1"/>
          </p:cNvPicPr>
          <p:nvPr/>
        </p:nvPicPr>
        <p:blipFill>
          <a:blip r:embed="rId1"/>
          <a:srcRect l="-2472" r="-2472" t="0" b="0"/>
          <a:stretch/>
        </p:blipFill>
        <p:spPr>
          <a:xfrm>
            <a:off x="4645152" y="804672"/>
            <a:ext cx="4270248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ground-truth verification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vs NTP Testing — 23 hours against GPS PPS reference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UTC error: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 ms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U(k=2):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±9.4 ms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servers: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±0.5–1 ms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GPS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chain: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← GPS PPS ← NTP servers ← your clock</a:t>
            </a:r>
            <a:endParaRPr lang="en-US" sz="1400" dirty="0"/>
          </a:p>
        </p:txBody>
      </p:sp>
      <p:pic>
        <p:nvPicPr>
          <p:cNvPr id="6" name="Image 0" descr="./assets/gps-pps-comparison.png">    </p:cNvPr>
          <p:cNvPicPr>
            <a:picLocks noChangeAspect="1"/>
          </p:cNvPicPr>
          <p:nvPr/>
        </p:nvPicPr>
        <p:blipFill>
          <a:blip r:embed="rId1"/>
          <a:srcRect l="-17647" r="-17647" t="0" b="0"/>
          <a:stretch/>
        </p:blipFill>
        <p:spPr>
          <a:xfrm>
            <a:off x="3429000" y="822960"/>
            <a:ext cx="5468112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078992"/>
            <a:ext cx="3657600" cy="36576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10-minute install.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310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configured automatically.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3977640"/>
            <a:ext cx="3657600" cy="36576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NTP Installer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configures everything: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4048" y="12344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Meinberg NTP + Time Server Monitor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standards servers for 35 countries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network QoS optimisation (DSCP 46)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GPS PPS receiver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2907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10–20 minutes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333756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set this up in the time it takes to make a toasted cheese sandwich.”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40416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github.com/labstercam/occultation-ntp-installer</a:t>
            </a:r>
            <a:endParaRPr lang="en-US" sz="1200" dirty="0"/>
          </a:p>
        </p:txBody>
      </p:sp>
      <p:pic>
        <p:nvPicPr>
          <p:cNvPr id="9" name="Image 0" descr="./assets/NTP-Installer.png">    </p:cNvPr>
          <p:cNvPicPr>
            <a:picLocks noChangeAspect="1"/>
          </p:cNvPicPr>
          <p:nvPr/>
        </p:nvPicPr>
        <p:blipFill>
          <a:blip r:embed="rId1"/>
          <a:srcRect l="-2247" r="-2247" t="0" b="0"/>
          <a:stretch/>
        </p:blipFill>
        <p:spPr>
          <a:xfrm>
            <a:off x="4663440" y="804672"/>
            <a:ext cx="425196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delays — estimated without a flasher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321040" cy="475488"/>
          </a:xfrm>
          <a:prstGeom prst="rect">
            <a:avLst/>
          </a:prstGeom>
          <a:solidFill>
            <a:srgbClr val="1A3A5A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8412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per_line_delay = (1 / max_fps) / ROI_height × 1000 ms    —    Occultation Manager calculates this automatically</a:t>
            </a:r>
            <a:endParaRPr lang="en-US" sz="1250" dirty="0"/>
          </a:p>
        </p:txBody>
      </p:sp>
      <p:pic>
        <p:nvPicPr>
          <p:cNvPr id="6" name="Image 0" descr="./assets/camera-coefs.png">    </p:cNvPr>
          <p:cNvPicPr>
            <a:picLocks noChangeAspect="1"/>
          </p:cNvPicPr>
          <p:nvPr/>
        </p:nvPicPr>
        <p:blipFill>
          <a:blip r:embed="rId1"/>
          <a:srcRect l="-202778" r="-202778" t="0" b="0"/>
          <a:stretch/>
        </p:blipFill>
        <p:spPr>
          <a:xfrm>
            <a:off x="384048" y="1353312"/>
            <a:ext cx="832104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3063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ZWO ASI462MM, 408×411 ROI, binning ×2 — Per-line: −0.0287 ms | Frame delay (Line 0): 13.8 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84048" y="347472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delay for small sensors, small ROI: typically </a:t>
            </a:r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 ms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community-shared calibrations for your camera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suitable: USB 2.0 cameras; sensors ≥4/3″ with full-frame ROI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delays — measured with a flasher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$10 GPS receiver is all you need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HiLetgo VK172, Beitian BN-180, or similar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Timing Setup — Line Delay Calibration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“Line delay: 12.8 − 0.028 × Y ms”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4048" y="23042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 = 0.990</a:t>
            </a:r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Excellent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7432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linear fit across the full sensor height.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cheap receiver produces sub-millisecond calibration precision.</a:t>
            </a:r>
            <a:endParaRPr lang="en-US" sz="1300" dirty="0"/>
          </a:p>
        </p:txBody>
      </p:sp>
      <p:pic>
        <p:nvPicPr>
          <p:cNvPr id="10" name="Image 0" descr="./assets/gps-camera-calibration.png">    </p:cNvPr>
          <p:cNvPicPr>
            <a:picLocks noChangeAspect="1"/>
          </p:cNvPicPr>
          <p:nvPr/>
        </p:nvPicPr>
        <p:blipFill>
          <a:blip r:embed="rId1"/>
          <a:srcRect l="-2472" r="-2472" t="0" b="0"/>
          <a:stretch/>
        </p:blipFill>
        <p:spPr>
          <a:xfrm>
            <a:off x="4645152" y="804672"/>
            <a:ext cx="4270248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delay is stable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27,042 GPS flashes — 9 continuous hours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15568"/>
          <a:ext cx="402336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7.377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 0.006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 – 8.5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048" y="3255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know the camera delay doesn’t drift?”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4048" y="37673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27,000 measurements over 9 hours say: it doesn’t.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42793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once per camera/ROI/settings combination. Use with confidence.</a:t>
            </a:r>
            <a:endParaRPr lang="en-US" sz="1250" dirty="0"/>
          </a:p>
        </p:txBody>
      </p:sp>
      <p:pic>
        <p:nvPicPr>
          <p:cNvPr id="9" name="Image 0" descr="./assets/gps-stability-test.png">    </p:cNvPr>
          <p:cNvPicPr>
            <a:picLocks noChangeAspect="1"/>
          </p:cNvPicPr>
          <p:nvPr/>
        </p:nvPicPr>
        <p:blipFill>
          <a:blip r:embed="rId1"/>
          <a:srcRect l="-3820" r="-3820" t="0" b="0"/>
          <a:stretch/>
        </p:blipFill>
        <p:spPr>
          <a:xfrm>
            <a:off x="4535424" y="804672"/>
            <a:ext cx="437997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costs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68680"/>
          <a:ext cx="8321040" cy="2651760"/>
        </p:xfrm>
        <a:graphic>
          <a:graphicData uri="http://schemas.openxmlformats.org/drawingml/2006/table">
            <a:tbl>
              <a:tblPr/>
              <a:tblGrid>
                <a:gridCol w="2331720"/>
                <a:gridCol w="4114800"/>
                <a:gridCol w="1874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USB3 camera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own / ToupTek G3M662M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or ~$US 179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SharpCap Pro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software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~$US 20/yr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Meinberg NTP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discipline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 Installer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All-in-one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Occultation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Events, sequences,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new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~$US 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361188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upgrades: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3968496"/>
          <a:ext cx="8321040" cy="896112"/>
        </p:xfrm>
        <a:graphic>
          <a:graphicData uri="http://schemas.openxmlformats.org/drawingml/2006/table">
            <a:tbl>
              <a:tblPr/>
              <a:tblGrid>
                <a:gridCol w="2194560"/>
                <a:gridCol w="2331720"/>
                <a:gridCol w="1554480"/>
                <a:gridCol w="2240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PPS receiver + flasher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~$50–80 AUD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Sub-ms clock + measured delays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flash timer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Aarts Timers, StampOfApproval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~$80–200 AUD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versatile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upgrade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today. Upgrade when you’re ready.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15568"/>
          <a:ext cx="8321040" cy="196596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2468880"/>
                <a:gridCol w="210312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delays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NTP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from max FPS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E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+ GPS PPS + flasher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± 1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$50–120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TimeBox / GPS NTP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± 1 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$150–250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Dedicated camera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GPS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$700–1,200+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048" y="32004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covers the </a:t>
            </a:r>
            <a:pPr indent="0" marL="0">
              <a:buNone/>
            </a:pPr>
            <a:r>
              <a:rPr lang="en-US" sz="1400" b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events.</a:t>
            </a:r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Level 3 is the </a:t>
            </a:r>
            <a:pPr indent="0" marL="0">
              <a:buNone/>
            </a:pPr>
            <a:r>
              <a:rPr lang="en-US" sz="1400" i="1" dirty="0">
                <a:solidFill>
                  <a:srgbClr val="7E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entry requirement.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4048" y="3703320"/>
            <a:ext cx="8321040" cy="1115568"/>
          </a:xfrm>
          <a:prstGeom prst="rect">
            <a:avLst/>
          </a:prstGeom>
          <a:solidFill>
            <a:srgbClr val="0A2233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3703320"/>
            <a:ext cx="54864" cy="1115568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749040"/>
            <a:ext cx="8046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at Level 0 today and learn how to do occultations. Upgrade later when you need to.”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45720" cy="4572000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tonight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2606040" cy="530352"/>
          </a:xfrm>
          <a:prstGeom prst="rect">
            <a:avLst/>
          </a:prstGeom>
          <a:solidFill>
            <a:srgbClr val="1A3A5A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155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observers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71907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run the installer. Check NTP status in the morning.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numbers look good — you can do occultations.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14116" y="1115568"/>
            <a:ext cx="2606040" cy="530352"/>
          </a:xfrm>
          <a:prstGeom prst="rect">
            <a:avLst/>
          </a:prstGeom>
          <a:solidFill>
            <a:srgbClr val="1A3A5A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5556" y="11155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observers &amp; clubs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14116" y="171907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is free, works, and accuracy is verifiable and traceable to UTC.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your members start — every new observer adds chords to every campaign.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44184" y="1115568"/>
            <a:ext cx="2606040" cy="530352"/>
          </a:xfrm>
          <a:prstGeom prst="rect">
            <a:avLst/>
          </a:prstGeom>
          <a:solidFill>
            <a:srgbClr val="1A3A5A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5624" y="11155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coordinators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44184" y="171907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observers expand multi-station coverage at zero hardware cost.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get this listed formally.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C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1261872"/>
            <a:ext cx="3657600" cy="36576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Installer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github.com/labstercam/occultation-ntp-installer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docs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github.com/labstercam/occultation-tools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Timing for Occultations  —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NTP Timing for Occultations</dc:title>
  <dc:subject>Practical NTP timing for asteroid occultation observers</dc:subject>
  <dc:creator>labstercam</dc:creator>
  <cp:lastModifiedBy>labstercam</cp:lastModifiedBy>
  <cp:revision>1</cp:revision>
  <dcterms:created xsi:type="dcterms:W3CDTF">2026-04-04T05:04:40Z</dcterms:created>
  <dcterms:modified xsi:type="dcterms:W3CDTF">2026-04-04T05:04:40Z</dcterms:modified>
</cp:coreProperties>
</file>